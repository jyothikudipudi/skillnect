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256" r:id="rId2"/>
    <p:sldId id="266" r:id="rId3"/>
    <p:sldId id="277" r:id="rId4"/>
    <p:sldId id="260" r:id="rId5"/>
    <p:sldId id="267" r:id="rId6"/>
    <p:sldId id="268" r:id="rId7"/>
    <p:sldId id="269" r:id="rId8"/>
    <p:sldId id="270" r:id="rId9"/>
    <p:sldId id="276" r:id="rId10"/>
    <p:sldId id="273" r:id="rId11"/>
    <p:sldId id="274" r:id="rId12"/>
    <p:sldId id="265" r:id="rId13"/>
    <p:sldId id="27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799" autoAdjust="0"/>
    <p:restoredTop sz="94660"/>
  </p:normalViewPr>
  <p:slideViewPr>
    <p:cSldViewPr snapToGrid="0">
      <p:cViewPr varScale="1">
        <p:scale>
          <a:sx n="82" d="100"/>
          <a:sy n="82" d="100"/>
        </p:scale>
        <p:origin x="1142" y="7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ICICC-2021</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92AD30-3EB1-44F3-99FC-CA174BE79D9D}" type="datetimeFigureOut">
              <a:rPr lang="en-IN" smtClean="0"/>
              <a:t>04-02-2026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54DA78-81CE-4CDA-BCDF-F9A71A5A3A2B}"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ICICC-2021</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518E6E-0D61-4A63-AE58-B654B59B306F}" type="datetimeFigureOut">
              <a:rPr lang="en-IN" smtClean="0"/>
              <a:t>04-02-2026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1FFA8-44D0-41D2-B252-050984594A0C}" type="slidenum">
              <a:rPr lang="en-IN" smtClean="0"/>
              <a:t>‹#›</a:t>
            </a:fld>
            <a:endParaRPr lang="en-IN"/>
          </a:p>
        </p:txBody>
      </p:sp>
    </p:spTree>
  </p:cSld>
  <p:clrMap bg1="lt1" tx1="dk1" bg2="lt2" tx2="dk2" accent1="accent1" accent2="accent2" accent3="accent3" accent4="accent4" accent5="accent5" accent6="accent6" hlink="hlink" folHlink="folHlink"/>
  <p:hf sldNum="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E226098-676A-4D42-973C-B40495CDDDEC}" type="datetime1">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47CD7D-2DE7-4E97-993E-733569484B37}"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F7CFCCD-FC47-4957-B096-B9308452F39D}" type="datetime1">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47CD7D-2DE7-4E97-993E-733569484B37}"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2A2121-674E-4703-8E93-FD703B6792EA}" type="datetime1">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47CD7D-2DE7-4E97-993E-733569484B37}"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D336FAB-17CD-40E5-9DD2-917B9CCF9532}" type="datetime1">
              <a:rPr lang="en-IN" smtClean="0"/>
              <a:t>04-02-2026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47CD7D-2DE7-4E97-993E-733569484B37}"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C4AF6B8-7ED9-4D4E-AF31-B6ABE73E7B86}" type="datetime1">
              <a:rPr lang="en-IN" smtClean="0"/>
              <a:t>04-02-2026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147CD7D-2DE7-4E97-993E-733569484B37}"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409E83B-9AF6-463D-94D7-1BD70D58EB51}" type="datetime1">
              <a:rPr lang="en-IN" smtClean="0"/>
              <a:t>04-02-2026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147CD7D-2DE7-4E97-993E-733569484B37}"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865060-90DC-461B-BDC9-54AEB3F6D352}" type="datetime1">
              <a:rPr lang="en-IN" smtClean="0"/>
              <a:t>04-02-2026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147CD7D-2DE7-4E97-993E-733569484B37}"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5BD440-1B51-45C8-BD20-DDE62F90122E}" type="datetime1">
              <a:rPr lang="en-IN" smtClean="0"/>
              <a:t>04-02-2026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47CD7D-2DE7-4E97-993E-733569484B37}"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D3F485-F546-4A07-AC88-EB61432B9257}" type="datetime1">
              <a:rPr lang="en-IN" smtClean="0"/>
              <a:t>04-02-2026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47CD7D-2DE7-4E97-993E-733569484B37}"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6FE355B-700B-475A-94E6-E916BEC1BEC9}" type="datetime1">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47CD7D-2DE7-4E97-993E-733569484B37}"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37149D9-6BDF-4CD2-9897-4590BE53E20F}" type="datetime1">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47CD7D-2DE7-4E97-993E-733569484B37}"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66D812-C650-4604-A15C-B7EC0FC2EC4A}" type="datetime1">
              <a:rPr lang="en-IN" smtClean="0"/>
              <a:t>04-02-2026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47CD7D-2DE7-4E97-993E-733569484B37}"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doi.org/10.1007/s40593-018-00173-9" TargetMode="External"/><Relationship Id="rId2" Type="http://schemas.openxmlformats.org/officeDocument/2006/relationships/hyperlink" Target="https://doi.org/10.17485/IJST/v18i25.760" TargetMode="External"/><Relationship Id="rId1" Type="http://schemas.openxmlformats.org/officeDocument/2006/relationships/slideLayout" Target="../slideLayouts/slideLayout1.xml"/><Relationship Id="rId4" Type="http://schemas.openxmlformats.org/officeDocument/2006/relationships/hyperlink" Target="https://journals.mriindia.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4594" y="1498923"/>
            <a:ext cx="11842810" cy="4625069"/>
          </a:xfrm>
        </p:spPr>
        <p:txBody>
          <a:bodyPr/>
          <a:lstStyle/>
          <a:p>
            <a:endParaRPr lang="en-IN" sz="1400" dirty="0">
              <a:latin typeface="Comic Sans MS" panose="030F0702030302020204" pitchFamily="66" charset="0"/>
            </a:endParaRPr>
          </a:p>
          <a:p>
            <a:endParaRPr lang="en-IN" sz="1400" dirty="0">
              <a:latin typeface="Comic Sans MS" panose="030F0702030302020204" pitchFamily="66" charset="0"/>
            </a:endParaRPr>
          </a:p>
          <a:p>
            <a:r>
              <a:rPr lang="en-US" sz="3200" dirty="0">
                <a:solidFill>
                  <a:schemeClr val="accent2"/>
                </a:solidFill>
              </a:rPr>
              <a:t>SkillNect – Smart Career Guidance and Development App</a:t>
            </a:r>
            <a:endParaRPr lang="en-IN" sz="1400" dirty="0">
              <a:solidFill>
                <a:schemeClr val="accent2"/>
              </a:solidFill>
              <a:latin typeface="Comic Sans MS" panose="030F0702030302020204" pitchFamily="66" charset="0"/>
            </a:endParaRPr>
          </a:p>
          <a:p>
            <a:endParaRPr lang="en-IN" sz="1800" dirty="0">
              <a:latin typeface="Comic Sans MS" panose="030F0702030302020204" pitchFamily="66" charset="0"/>
            </a:endParaRPr>
          </a:p>
          <a:p>
            <a:endParaRPr lang="en-IN" sz="1800" dirty="0">
              <a:latin typeface="Comic Sans MS" panose="030F0702030302020204" pitchFamily="66" charset="0"/>
            </a:endParaRPr>
          </a:p>
          <a:p>
            <a:endParaRPr lang="en-IN" sz="3200" dirty="0">
              <a:latin typeface="Comic Sans MS" panose="030F0702030302020204" pitchFamily="66" charset="0"/>
            </a:endParaRPr>
          </a:p>
          <a:p>
            <a:endParaRPr lang="en-IN" sz="1800" dirty="0">
              <a:latin typeface="Comic Sans MS" panose="030F0702030302020204" pitchFamily="66" charset="0"/>
            </a:endParaRPr>
          </a:p>
          <a:p>
            <a:endParaRPr lang="en-IN" sz="1800" dirty="0">
              <a:latin typeface="Comic Sans MS" panose="030F0702030302020204" pitchFamily="66" charset="0"/>
            </a:endParaRPr>
          </a:p>
          <a:p>
            <a:endParaRPr lang="en-IN" sz="1400" dirty="0">
              <a:latin typeface="Comic Sans MS" panose="030F0702030302020204" pitchFamily="66" charset="0"/>
            </a:endParaRPr>
          </a:p>
        </p:txBody>
      </p:sp>
      <p:sp>
        <p:nvSpPr>
          <p:cNvPr id="5" name="TextBox 4"/>
          <p:cNvSpPr txBox="1"/>
          <p:nvPr/>
        </p:nvSpPr>
        <p:spPr>
          <a:xfrm>
            <a:off x="2671316" y="-203185"/>
            <a:ext cx="6429466" cy="1569660"/>
          </a:xfrm>
          <a:prstGeom prst="rect">
            <a:avLst/>
          </a:prstGeom>
          <a:noFill/>
        </p:spPr>
        <p:txBody>
          <a:bodyPr wrap="square" rtlCol="0">
            <a:spAutoFit/>
          </a:bodyPr>
          <a:lstStyle/>
          <a:p>
            <a:pPr algn="ctr"/>
            <a:endParaRPr lang="en-IN" sz="2400" b="1" dirty="0">
              <a:solidFill>
                <a:srgbClr val="0070C0"/>
              </a:solidFill>
            </a:endParaRPr>
          </a:p>
          <a:p>
            <a:pPr algn="ctr"/>
            <a:endParaRPr lang="en-IN" sz="2400" b="1" dirty="0">
              <a:solidFill>
                <a:srgbClr val="0070C0"/>
              </a:solidFill>
            </a:endParaRPr>
          </a:p>
          <a:p>
            <a:pPr algn="ctr"/>
            <a:endParaRPr lang="en-IN" sz="2400" b="1" dirty="0">
              <a:solidFill>
                <a:srgbClr val="0070C0"/>
              </a:solidFill>
            </a:endParaRPr>
          </a:p>
          <a:p>
            <a:pPr algn="ctr"/>
            <a:r>
              <a:rPr lang="en-IN" sz="2400" b="1" dirty="0">
                <a:solidFill>
                  <a:srgbClr val="0070C0"/>
                </a:solidFill>
              </a:rPr>
              <a:t>Review-2</a:t>
            </a:r>
          </a:p>
        </p:txBody>
      </p:sp>
      <p:pic>
        <p:nvPicPr>
          <p:cNvPr id="2" name="image5.jpeg"/>
          <p:cNvPicPr>
            <a:picLocks noChangeAspect="1"/>
          </p:cNvPicPr>
          <p:nvPr/>
        </p:nvPicPr>
        <p:blipFill>
          <a:blip r:embed="rId2" cstate="print"/>
          <a:stretch>
            <a:fillRect/>
          </a:stretch>
        </p:blipFill>
        <p:spPr>
          <a:xfrm>
            <a:off x="2881267" y="66996"/>
            <a:ext cx="6429465" cy="897296"/>
          </a:xfrm>
          <a:prstGeom prst="rect">
            <a:avLst/>
          </a:prstGeom>
        </p:spPr>
      </p:pic>
      <p:sp>
        <p:nvSpPr>
          <p:cNvPr id="4" name="Subtitle 2"/>
          <p:cNvSpPr txBox="1"/>
          <p:nvPr/>
        </p:nvSpPr>
        <p:spPr>
          <a:xfrm>
            <a:off x="313899" y="2988860"/>
            <a:ext cx="11273050" cy="2902619"/>
          </a:xfrm>
          <a:prstGeom prst="rect">
            <a:avLst/>
          </a:prstGeom>
        </p:spPr>
        <p:txBody>
          <a:bodyPr vert="horz" lIns="91440" tIns="45720" rIns="91440" bIns="45720" rtlCol="0">
            <a:normAutofit fontScale="4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3400" dirty="0">
              <a:latin typeface="Times New Roman" panose="02020603050405020304" pitchFamily="18" charset="0"/>
              <a:cs typeface="Times New Roman" panose="02020603050405020304" pitchFamily="18" charset="0"/>
            </a:endParaRPr>
          </a:p>
          <a:p>
            <a:pPr algn="l"/>
            <a:r>
              <a:rPr lang="en-US" sz="4200" dirty="0">
                <a:latin typeface="Times New Roman" panose="02020603050405020304" pitchFamily="18" charset="0"/>
                <a:cs typeface="Times New Roman" panose="02020603050405020304" pitchFamily="18" charset="0"/>
              </a:rPr>
              <a:t>Submitted by</a:t>
            </a:r>
            <a:r>
              <a:rPr lang="en-US" sz="3400" dirty="0">
                <a:latin typeface="Times New Roman" panose="02020603050405020304" pitchFamily="18" charset="0"/>
                <a:cs typeface="Times New Roman" panose="02020603050405020304" pitchFamily="18" charset="0"/>
              </a:rPr>
              <a:t>			</a:t>
            </a:r>
            <a:r>
              <a:rPr lang="fi-FI" sz="3700" b="1" dirty="0">
                <a:latin typeface="Times New Roman" panose="02020603050405020304" pitchFamily="18" charset="0"/>
                <a:cs typeface="Times New Roman" panose="02020603050405020304" pitchFamily="18" charset="0"/>
              </a:rPr>
              <a:t>Mr. D.VENKATA RAVI KUMAR, M.TECH.,(Ph.D)  ASSISTANT PROFESSOR</a:t>
            </a:r>
            <a:endParaRPr lang="en-US" sz="3700" b="1" dirty="0">
              <a:latin typeface="Times New Roman" panose="02020603050405020304" pitchFamily="18" charset="0"/>
              <a:cs typeface="Times New Roman" panose="02020603050405020304" pitchFamily="18" charset="0"/>
            </a:endParaRPr>
          </a:p>
          <a:p>
            <a:pPr algn="l"/>
            <a:r>
              <a:rPr lang="en-US" sz="3400" dirty="0">
                <a:latin typeface="Times New Roman" panose="02020603050405020304" pitchFamily="18" charset="0"/>
                <a:cs typeface="Times New Roman" panose="02020603050405020304" pitchFamily="18" charset="0"/>
              </a:rPr>
              <a:t>	    								</a:t>
            </a:r>
          </a:p>
          <a:p>
            <a:pPr algn="l"/>
            <a:r>
              <a:rPr lang="en-US" sz="4000" dirty="0"/>
              <a:t>22MH1A05B5   KUDIPUDI JYOTHI</a:t>
            </a:r>
          </a:p>
          <a:p>
            <a:pPr algn="l"/>
            <a:r>
              <a:rPr lang="en-US" sz="4000" dirty="0"/>
              <a:t>22MH1A0589    BIKASH PRASAD YADAV </a:t>
            </a:r>
          </a:p>
          <a:p>
            <a:pPr algn="l"/>
            <a:r>
              <a:rPr lang="en-US" sz="4000" dirty="0"/>
              <a:t>22MH1A05E3    SHIVANAND PRASAD KUSHWAHA</a:t>
            </a:r>
          </a:p>
          <a:p>
            <a:pPr algn="l"/>
            <a:r>
              <a:rPr lang="en-US" sz="4000" dirty="0"/>
              <a:t>22MH1A0597    DASI KARTHEEK </a:t>
            </a:r>
          </a:p>
          <a:p>
            <a:r>
              <a:rPr lang="en-US" sz="3200" dirty="0">
                <a:latin typeface="Times New Roman" panose="02020603050405020304" pitchFamily="18" charset="0"/>
                <a:cs typeface="Times New Roman" panose="02020603050405020304" pitchFamily="18" charset="0"/>
              </a:rPr>
              <a:t>			 </a:t>
            </a:r>
          </a:p>
          <a:p>
            <a:r>
              <a:rPr lang="en-US" sz="32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87829" y="504967"/>
            <a:ext cx="10879494" cy="5886955"/>
          </a:xfrm>
        </p:spPr>
        <p:txBody>
          <a:bodyPr/>
          <a:lstStyle/>
          <a:p>
            <a:pPr algn="l"/>
            <a:r>
              <a:rPr lang="en-IN" b="1" dirty="0">
                <a:latin typeface="Times New Roman" panose="02020603050405020304" pitchFamily="18" charset="0"/>
                <a:cs typeface="Times New Roman" panose="02020603050405020304" pitchFamily="18" charset="0"/>
              </a:rPr>
              <a:t> 2. ABSTRACT:</a:t>
            </a:r>
          </a:p>
          <a:p>
            <a:pPr algn="l"/>
            <a:endParaRPr lang="en-IN" dirty="0">
              <a:latin typeface="Comic Sans MS" panose="030F0702030302020204" pitchFamily="66" charset="0"/>
            </a:endParaRPr>
          </a:p>
          <a:p>
            <a:pPr algn="just">
              <a:lnSpc>
                <a:spcPct val="100000"/>
              </a:lnSpc>
            </a:pPr>
            <a:r>
              <a:rPr lang="en-US" sz="2000" dirty="0">
                <a:solidFill>
                  <a:schemeClr val="accent2"/>
                </a:solidFill>
                <a:latin typeface="Times New Roman" panose="02020603050405020304" pitchFamily="18" charset="0"/>
                <a:cs typeface="Times New Roman" panose="02020603050405020304" pitchFamily="18" charset="0"/>
              </a:rPr>
              <a:t>SkillNect </a:t>
            </a:r>
            <a:r>
              <a:rPr lang="en-US" sz="2000" dirty="0">
                <a:latin typeface="Times New Roman" panose="02020603050405020304" pitchFamily="18" charset="0"/>
                <a:cs typeface="Times New Roman" panose="02020603050405020304" pitchFamily="18" charset="0"/>
              </a:rPr>
              <a:t>is a web and mobile application that helps students and professionals plan, build, and track their career growth. The platform includes various career development tools like </a:t>
            </a:r>
            <a:r>
              <a:rPr lang="en-US" sz="2000" dirty="0">
                <a:solidFill>
                  <a:schemeClr val="accent2"/>
                </a:solidFill>
                <a:latin typeface="Times New Roman" panose="02020603050405020304" pitchFamily="18" charset="0"/>
                <a:cs typeface="Times New Roman" panose="02020603050405020304" pitchFamily="18" charset="0"/>
              </a:rPr>
              <a:t>resume evaluation, career roadmap creation, skill-building, and interview preparation</a:t>
            </a:r>
            <a:r>
              <a:rPr lang="en-US" sz="2000" dirty="0">
                <a:latin typeface="Times New Roman" panose="02020603050405020304" pitchFamily="18" charset="0"/>
                <a:cs typeface="Times New Roman" panose="02020603050405020304" pitchFamily="18" charset="0"/>
              </a:rPr>
              <a:t>, all in one system. Users can upload resumes for professional feedback, find personalized learning paths, and track their skill progress through interactive dashboards.</a:t>
            </a:r>
          </a:p>
          <a:p>
            <a:pPr algn="just">
              <a:lnSpc>
                <a:spcPct val="100000"/>
              </a:lnSpc>
            </a:pPr>
            <a:endParaRPr lang="en-US" sz="2000" dirty="0">
              <a:latin typeface="Times New Roman" panose="02020603050405020304" pitchFamily="18" charset="0"/>
              <a:cs typeface="Times New Roman" panose="02020603050405020304" pitchFamily="18" charset="0"/>
            </a:endParaRPr>
          </a:p>
          <a:p>
            <a:pPr algn="just">
              <a:lnSpc>
                <a:spcPct val="100000"/>
              </a:lnSpc>
            </a:pPr>
            <a:r>
              <a:rPr lang="en-US" sz="2000" dirty="0">
                <a:latin typeface="Times New Roman" panose="02020603050405020304" pitchFamily="18" charset="0"/>
                <a:cs typeface="Times New Roman" panose="02020603050405020304" pitchFamily="18" charset="0"/>
              </a:rPr>
              <a:t>In addition to technical skills, SkillNect focuses on </a:t>
            </a:r>
            <a:r>
              <a:rPr lang="en-US" sz="2000" dirty="0">
                <a:solidFill>
                  <a:schemeClr val="accent2"/>
                </a:solidFill>
                <a:latin typeface="Times New Roman" panose="02020603050405020304" pitchFamily="18" charset="0"/>
                <a:cs typeface="Times New Roman" panose="02020603050405020304" pitchFamily="18" charset="0"/>
              </a:rPr>
              <a:t>personal and communication skills</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It offers exercises to boost confidence, clarity, and presentation. The application features a mock interview tool that mimics real interview situations and provides performance feedback. Built with modern web, mobile, and cloud technologies, SkillNect delivers a smooth and scalable experience, acting as a </a:t>
            </a:r>
            <a:r>
              <a:rPr lang="en-US" sz="2000" dirty="0">
                <a:solidFill>
                  <a:schemeClr val="accent2"/>
                </a:solidFill>
                <a:latin typeface="Times New Roman" panose="02020603050405020304" pitchFamily="18" charset="0"/>
                <a:cs typeface="Times New Roman" panose="02020603050405020304" pitchFamily="18" charset="0"/>
              </a:rPr>
              <a:t>complete digital career companion </a:t>
            </a:r>
            <a:r>
              <a:rPr lang="en-US" sz="2000" dirty="0">
                <a:latin typeface="Times New Roman" panose="02020603050405020304" pitchFamily="18" charset="0"/>
                <a:cs typeface="Times New Roman" panose="02020603050405020304" pitchFamily="18" charset="0"/>
              </a:rPr>
              <a:t>that guides users toward their professional goals.</a:t>
            </a:r>
            <a:endParaRPr lang="en-IN" dirty="0">
              <a:latin typeface="Comic Sans MS" panose="030F0702030302020204" pitchFamily="66"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0AD5994-CE3A-25E6-84EA-4FBC169ED02E}"/>
              </a:ext>
            </a:extLst>
          </p:cNvPr>
          <p:cNvSpPr txBox="1"/>
          <p:nvPr/>
        </p:nvSpPr>
        <p:spPr>
          <a:xfrm>
            <a:off x="1110343" y="751344"/>
            <a:ext cx="9731828" cy="4370427"/>
          </a:xfrm>
          <a:prstGeom prst="rect">
            <a:avLst/>
          </a:prstGeom>
          <a:noFill/>
        </p:spPr>
        <p:txBody>
          <a:bodyPr wrap="square">
            <a:spAutoFit/>
          </a:bodyPr>
          <a:lstStyle/>
          <a:p>
            <a:pPr algn="l"/>
            <a:r>
              <a:rPr lang="en-IN" sz="2200" b="1" dirty="0">
                <a:latin typeface="Times New Roman" panose="02020603050405020304" pitchFamily="18" charset="0"/>
                <a:cs typeface="Times New Roman" panose="02020603050405020304" pitchFamily="18" charset="0"/>
              </a:rPr>
              <a:t>3. INTRODUCTION:</a:t>
            </a:r>
          </a:p>
          <a:p>
            <a:pPr algn="l"/>
            <a:endParaRPr lang="en-IN" sz="2200" b="1" dirty="0">
              <a:latin typeface="Times New Roman" panose="02020603050405020304" pitchFamily="18" charset="0"/>
              <a:cs typeface="Times New Roman" panose="02020603050405020304" pitchFamily="18" charset="0"/>
            </a:endParaRPr>
          </a:p>
          <a:p>
            <a:pPr algn="l"/>
            <a:endParaRPr lang="en-IN" dirty="0">
              <a:latin typeface="Comic Sans MS" panose="030F0702030302020204" pitchFamily="66" charset="0"/>
            </a:endParaRPr>
          </a:p>
          <a:p>
            <a:pPr lvl="0" algn="just" eaLnBrk="0" fontAlgn="base" hangingPunct="0">
              <a:lnSpc>
                <a:spcPct val="100000"/>
              </a:lnSpc>
              <a:spcBef>
                <a:spcPct val="0"/>
              </a:spcBef>
              <a:spcAft>
                <a:spcPct val="0"/>
              </a:spcAft>
            </a:pPr>
            <a:r>
              <a:rPr lang="en-US" altLang="en-US" dirty="0">
                <a:latin typeface="Times New Roman" panose="02020603050405020304" pitchFamily="18" charset="0"/>
                <a:cs typeface="Times New Roman" panose="02020603050405020304" pitchFamily="18" charset="0"/>
              </a:rPr>
              <a:t>SkillNect is a smart career guidance and development platform designed for students and professionals.</a:t>
            </a:r>
          </a:p>
          <a:p>
            <a:pPr lvl="0" algn="just" eaLnBrk="0" fontAlgn="base" hangingPunct="0">
              <a:lnSpc>
                <a:spcPct val="100000"/>
              </a:lnSpc>
              <a:spcBef>
                <a:spcPct val="0"/>
              </a:spcBef>
              <a:spcAft>
                <a:spcPct val="0"/>
              </a:spcAft>
            </a:pPr>
            <a:r>
              <a:rPr lang="en-US" altLang="en-US" dirty="0">
                <a:latin typeface="Times New Roman" panose="02020603050405020304" pitchFamily="18" charset="0"/>
                <a:cs typeface="Times New Roman" panose="02020603050405020304" pitchFamily="18" charset="0"/>
              </a:rPr>
              <a:t>It offers both web and mobile access, making career planning simple and easily accessible. The platform helps users analyze their strengths and build a </a:t>
            </a:r>
            <a:r>
              <a:rPr lang="en-US" altLang="en-US" dirty="0">
                <a:solidFill>
                  <a:schemeClr val="accent2"/>
                </a:solidFill>
                <a:latin typeface="Times New Roman" panose="02020603050405020304" pitchFamily="18" charset="0"/>
                <a:cs typeface="Times New Roman" panose="02020603050405020304" pitchFamily="18" charset="0"/>
              </a:rPr>
              <a:t>personalized career growth roadmap</a:t>
            </a:r>
            <a:r>
              <a:rPr lang="en-US" altLang="en-US" dirty="0">
                <a:latin typeface="Times New Roman" panose="02020603050405020304" pitchFamily="18" charset="0"/>
                <a:cs typeface="Times New Roman" panose="02020603050405020304" pitchFamily="18" charset="0"/>
              </a:rPr>
              <a:t>. It includes </a:t>
            </a:r>
            <a:r>
              <a:rPr lang="en-US" altLang="en-US" dirty="0">
                <a:solidFill>
                  <a:schemeClr val="accent2"/>
                </a:solidFill>
                <a:latin typeface="Times New Roman" panose="02020603050405020304" pitchFamily="18" charset="0"/>
                <a:cs typeface="Times New Roman" panose="02020603050405020304" pitchFamily="18" charset="0"/>
              </a:rPr>
              <a:t>AI-assisted Resume evaluation </a:t>
            </a:r>
            <a:r>
              <a:rPr lang="en-US" altLang="en-US" dirty="0">
                <a:latin typeface="Times New Roman" panose="02020603050405020304" pitchFamily="18" charset="0"/>
                <a:cs typeface="Times New Roman" panose="02020603050405020304" pitchFamily="18" charset="0"/>
              </a:rPr>
              <a:t>to enhance job readiness and profile quality. Users can improve </a:t>
            </a:r>
            <a:r>
              <a:rPr lang="en-US" altLang="en-US" dirty="0">
                <a:solidFill>
                  <a:schemeClr val="accent2"/>
                </a:solidFill>
                <a:latin typeface="Times New Roman" panose="02020603050405020304" pitchFamily="18" charset="0"/>
                <a:cs typeface="Times New Roman" panose="02020603050405020304" pitchFamily="18" charset="0"/>
              </a:rPr>
              <a:t>technical and communication skills </a:t>
            </a:r>
            <a:r>
              <a:rPr lang="en-US" altLang="en-US" dirty="0">
                <a:latin typeface="Times New Roman" panose="02020603050405020304" pitchFamily="18" charset="0"/>
                <a:cs typeface="Times New Roman" panose="02020603050405020304" pitchFamily="18" charset="0"/>
              </a:rPr>
              <a:t>through structured learning modules. </a:t>
            </a:r>
            <a:r>
              <a:rPr lang="en-US" altLang="en-US" dirty="0">
                <a:solidFill>
                  <a:schemeClr val="accent2"/>
                </a:solidFill>
                <a:latin typeface="Times New Roman" panose="02020603050405020304" pitchFamily="18" charset="0"/>
                <a:cs typeface="Times New Roman" panose="02020603050405020304" pitchFamily="18" charset="0"/>
              </a:rPr>
              <a:t>Mock interview simulations </a:t>
            </a:r>
            <a:r>
              <a:rPr lang="en-US" altLang="en-US" dirty="0">
                <a:latin typeface="Times New Roman" panose="02020603050405020304" pitchFamily="18" charset="0"/>
                <a:cs typeface="Times New Roman" panose="02020603050405020304" pitchFamily="18" charset="0"/>
              </a:rPr>
              <a:t>are provided to boost confidence and prepare for real-world interviews.</a:t>
            </a:r>
          </a:p>
          <a:p>
            <a:pPr algn="just">
              <a:lnSpc>
                <a:spcPct val="100000"/>
              </a:lnSpc>
            </a:pPr>
            <a:endParaRPr lang="en-US" dirty="0">
              <a:latin typeface="Times New Roman" panose="02020603050405020304" pitchFamily="18" charset="0"/>
              <a:cs typeface="Times New Roman" panose="02020603050405020304" pitchFamily="18" charset="0"/>
            </a:endParaRPr>
          </a:p>
          <a:p>
            <a:pPr algn="just">
              <a:lnSpc>
                <a:spcPct val="100000"/>
              </a:lnSpc>
            </a:pPr>
            <a:endParaRPr lang="en-US" dirty="0">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pPr>
            <a:r>
              <a:rPr lang="en-US" altLang="en-US" dirty="0">
                <a:latin typeface="Times New Roman" panose="02020603050405020304" pitchFamily="18" charset="0"/>
                <a:cs typeface="Times New Roman" panose="02020603050405020304" pitchFamily="18" charset="0"/>
              </a:rPr>
              <a:t>The system enables users to track progress, skill milestones, and job applications in one convenient location. The </a:t>
            </a:r>
            <a:r>
              <a:rPr lang="en-US" altLang="en-US" dirty="0">
                <a:solidFill>
                  <a:schemeClr val="accent2"/>
                </a:solidFill>
                <a:latin typeface="Times New Roman" panose="02020603050405020304" pitchFamily="18" charset="0"/>
                <a:cs typeface="Times New Roman" panose="02020603050405020304" pitchFamily="18" charset="0"/>
              </a:rPr>
              <a:t>backend is built with Spring Boot</a:t>
            </a:r>
            <a:r>
              <a:rPr lang="en-US" altLang="en-US" dirty="0">
                <a:latin typeface="Times New Roman" panose="02020603050405020304" pitchFamily="18" charset="0"/>
                <a:cs typeface="Times New Roman" panose="02020603050405020304" pitchFamily="18" charset="0"/>
              </a:rPr>
              <a:t>, ensuring robust, secure, and efficient operation. The </a:t>
            </a:r>
            <a:r>
              <a:rPr lang="en-US" altLang="en-US" dirty="0">
                <a:solidFill>
                  <a:schemeClr val="accent2"/>
                </a:solidFill>
                <a:latin typeface="Times New Roman" panose="02020603050405020304" pitchFamily="18" charset="0"/>
                <a:cs typeface="Times New Roman" panose="02020603050405020304" pitchFamily="18" charset="0"/>
              </a:rPr>
              <a:t>frontend is developed using React (web) </a:t>
            </a:r>
            <a:r>
              <a:rPr lang="en-US" altLang="en-US" dirty="0">
                <a:latin typeface="Times New Roman" panose="02020603050405020304" pitchFamily="18" charset="0"/>
                <a:cs typeface="Times New Roman" panose="02020603050405020304" pitchFamily="18" charset="0"/>
              </a:rPr>
              <a:t>and </a:t>
            </a:r>
            <a:r>
              <a:rPr lang="en-US" altLang="en-US" dirty="0">
                <a:solidFill>
                  <a:schemeClr val="accent2"/>
                </a:solidFill>
                <a:latin typeface="Times New Roman" panose="02020603050405020304" pitchFamily="18" charset="0"/>
                <a:cs typeface="Times New Roman" panose="02020603050405020304" pitchFamily="18" charset="0"/>
              </a:rPr>
              <a:t>React Native (mobile) </a:t>
            </a:r>
            <a:r>
              <a:rPr lang="en-US" altLang="en-US" dirty="0">
                <a:latin typeface="Times New Roman" panose="02020603050405020304" pitchFamily="18" charset="0"/>
                <a:cs typeface="Times New Roman" panose="02020603050405020304" pitchFamily="18" charset="0"/>
              </a:rPr>
              <a:t>for a seamless user experience. The platform is </a:t>
            </a:r>
            <a:r>
              <a:rPr lang="en-US" altLang="en-US" dirty="0">
                <a:solidFill>
                  <a:schemeClr val="accent2"/>
                </a:solidFill>
                <a:latin typeface="Times New Roman" panose="02020603050405020304" pitchFamily="18" charset="0"/>
                <a:cs typeface="Times New Roman" panose="02020603050405020304" pitchFamily="18" charset="0"/>
              </a:rPr>
              <a:t>hosted on AWS Cloud, </a:t>
            </a:r>
            <a:r>
              <a:rPr lang="en-US" altLang="en-US" dirty="0">
                <a:latin typeface="Times New Roman" panose="02020603050405020304" pitchFamily="18" charset="0"/>
                <a:cs typeface="Times New Roman" panose="02020603050405020304" pitchFamily="18" charset="0"/>
              </a:rPr>
              <a:t>ensuring scalability, high performance, and real-time access.</a:t>
            </a:r>
          </a:p>
        </p:txBody>
      </p:sp>
    </p:spTree>
    <p:extLst>
      <p:ext uri="{BB962C8B-B14F-4D97-AF65-F5344CB8AC3E}">
        <p14:creationId xmlns:p14="http://schemas.microsoft.com/office/powerpoint/2010/main" val="170015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05273" y="509424"/>
            <a:ext cx="11364686" cy="6161964"/>
          </a:xfrm>
        </p:spPr>
        <p:txBody>
          <a:bodyPr/>
          <a:lstStyle/>
          <a:p>
            <a:pPr algn="l"/>
            <a:endParaRPr lang="en-IN" b="1" dirty="0"/>
          </a:p>
          <a:p>
            <a:pPr algn="l"/>
            <a:r>
              <a:rPr lang="en-IN" b="1" dirty="0"/>
              <a:t>4. </a:t>
            </a:r>
            <a:r>
              <a:rPr lang="en-IN" b="1" dirty="0">
                <a:latin typeface="Times New Roman" panose="02020603050405020304" pitchFamily="18" charset="0"/>
                <a:cs typeface="Times New Roman" panose="02020603050405020304" pitchFamily="18" charset="0"/>
              </a:rPr>
              <a:t>OBJECTIVES :</a:t>
            </a:r>
          </a:p>
          <a:p>
            <a:pPr algn="l"/>
            <a:endParaRPr lang="en-IN" dirty="0">
              <a:latin typeface="Comic Sans MS" panose="030F0702030302020204" pitchFamily="66" charset="0"/>
            </a:endParaRPr>
          </a:p>
          <a:p>
            <a:pPr marL="342900" indent="-342900" algn="just">
              <a:buFont typeface="Wingdings" panose="05000000000000000000" pitchFamily="2" charset="2"/>
              <a:buChar char="Ø"/>
            </a:pPr>
            <a:r>
              <a:rPr lang="en-US" altLang="en-US" sz="2000" b="1" dirty="0">
                <a:solidFill>
                  <a:schemeClr val="accent2"/>
                </a:solidFill>
                <a:latin typeface="Times New Roman" panose="02020603050405020304" pitchFamily="18" charset="0"/>
                <a:cs typeface="Times New Roman" panose="02020603050405020304" pitchFamily="18" charset="0"/>
              </a:rPr>
              <a:t>AI-Assisted Resume Evaluation: </a:t>
            </a:r>
            <a:r>
              <a:rPr lang="en-US" altLang="en-US" sz="2000" dirty="0">
                <a:latin typeface="Times New Roman" panose="02020603050405020304" pitchFamily="18" charset="0"/>
                <a:cs typeface="Times New Roman" panose="02020603050405020304" pitchFamily="18" charset="0"/>
              </a:rPr>
              <a:t>To develop a module that provides personalized suggestions and improves job-readiness.</a:t>
            </a:r>
          </a:p>
          <a:p>
            <a:pPr marL="342900" lvl="0" indent="-342900" algn="just" eaLnBrk="0" fontAlgn="base" hangingPunct="0">
              <a:lnSpc>
                <a:spcPct val="100000"/>
              </a:lnSpc>
              <a:spcBef>
                <a:spcPct val="0"/>
              </a:spcBef>
              <a:spcAft>
                <a:spcPct val="0"/>
              </a:spcAft>
              <a:buFont typeface="Wingdings" panose="05000000000000000000" pitchFamily="2" charset="2"/>
              <a:buChar char="Ø"/>
            </a:pPr>
            <a:r>
              <a:rPr lang="en-US" altLang="en-US" sz="2000" b="1" dirty="0">
                <a:solidFill>
                  <a:schemeClr val="accent2"/>
                </a:solidFill>
                <a:latin typeface="Times New Roman" panose="02020603050405020304" pitchFamily="18" charset="0"/>
                <a:cs typeface="Times New Roman" panose="02020603050405020304" pitchFamily="18" charset="0"/>
              </a:rPr>
              <a:t>Structured Career Roadmap: </a:t>
            </a:r>
            <a:r>
              <a:rPr lang="en-US" altLang="en-US" sz="2000" dirty="0">
                <a:latin typeface="Times New Roman" panose="02020603050405020304" pitchFamily="18" charset="0"/>
                <a:cs typeface="Times New Roman" panose="02020603050405020304" pitchFamily="18" charset="0"/>
              </a:rPr>
              <a:t>To overcome limitations in traditional career guidance by offering a structured roadmap, skill tracking, and course recommendations.</a:t>
            </a:r>
          </a:p>
          <a:p>
            <a:pPr marL="342900" lvl="0" indent="-342900" algn="just" eaLnBrk="0" fontAlgn="base" hangingPunct="0">
              <a:lnSpc>
                <a:spcPct val="100000"/>
              </a:lnSpc>
              <a:spcBef>
                <a:spcPct val="0"/>
              </a:spcBef>
              <a:spcAft>
                <a:spcPct val="0"/>
              </a:spcAft>
              <a:buFont typeface="Wingdings" panose="05000000000000000000" pitchFamily="2" charset="2"/>
              <a:buChar char="Ø"/>
            </a:pPr>
            <a:r>
              <a:rPr lang="en-US" altLang="en-US" sz="2000" b="1" dirty="0">
                <a:solidFill>
                  <a:schemeClr val="accent2"/>
                </a:solidFill>
                <a:latin typeface="Times New Roman" panose="02020603050405020304" pitchFamily="18" charset="0"/>
                <a:cs typeface="Times New Roman" panose="02020603050405020304" pitchFamily="18" charset="0"/>
              </a:rPr>
              <a:t>Unified Web &amp; Mobile Interface: </a:t>
            </a:r>
            <a:r>
              <a:rPr lang="en-US" altLang="en-US" sz="2000" dirty="0">
                <a:latin typeface="Times New Roman" panose="02020603050405020304" pitchFamily="18" charset="0"/>
                <a:cs typeface="Times New Roman" panose="02020603050405020304" pitchFamily="18" charset="0"/>
              </a:rPr>
              <a:t>To design an intuitive platform that allows users to access all career tools in a single application.</a:t>
            </a:r>
          </a:p>
          <a:p>
            <a:pPr marL="342900" lvl="0" indent="-342900" algn="just" eaLnBrk="0" fontAlgn="base" hangingPunct="0">
              <a:lnSpc>
                <a:spcPct val="100000"/>
              </a:lnSpc>
              <a:spcBef>
                <a:spcPct val="0"/>
              </a:spcBef>
              <a:spcAft>
                <a:spcPct val="0"/>
              </a:spcAft>
              <a:buFont typeface="Wingdings" panose="05000000000000000000" pitchFamily="2" charset="2"/>
              <a:buChar char="Ø"/>
            </a:pPr>
            <a:r>
              <a:rPr lang="en-US" altLang="en-US" sz="2000" b="1" dirty="0">
                <a:solidFill>
                  <a:schemeClr val="accent2"/>
                </a:solidFill>
                <a:latin typeface="Times New Roman" panose="02020603050405020304" pitchFamily="18" charset="0"/>
                <a:cs typeface="Times New Roman" panose="02020603050405020304" pitchFamily="18" charset="0"/>
              </a:rPr>
              <a:t>Interactive Personality &amp; Interview Features: </a:t>
            </a:r>
            <a:r>
              <a:rPr lang="en-US" altLang="en-US" sz="2000" dirty="0">
                <a:latin typeface="Times New Roman" panose="02020603050405020304" pitchFamily="18" charset="0"/>
                <a:cs typeface="Times New Roman" panose="02020603050405020304" pitchFamily="18" charset="0"/>
              </a:rPr>
              <a:t>To implement exercises like personality development tasks and AI mock interviews for overall professional growth.</a:t>
            </a:r>
          </a:p>
          <a:p>
            <a:pPr algn="l"/>
            <a:endParaRPr lang="en-IN" dirty="0">
              <a:latin typeface="Comic Sans MS" panose="030F0702030302020204" pitchFamily="66"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97BDD-5F15-3783-02BA-E4FEB4F1693A}"/>
              </a:ext>
            </a:extLst>
          </p:cNvPr>
          <p:cNvSpPr>
            <a:spLocks noGrp="1"/>
          </p:cNvSpPr>
          <p:nvPr>
            <p:ph type="title"/>
          </p:nvPr>
        </p:nvSpPr>
        <p:spPr/>
        <p:txBody>
          <a:bodyPr>
            <a:normAutofit/>
          </a:bodyPr>
          <a:lstStyle/>
          <a:p>
            <a:pPr algn="ctr"/>
            <a:r>
              <a:rPr lang="en-US" sz="2400" b="1" dirty="0">
                <a:latin typeface="Times New Roman" panose="02020603050405020304" pitchFamily="18" charset="0"/>
                <a:cs typeface="Times New Roman" panose="02020603050405020304" pitchFamily="18" charset="0"/>
                <a:sym typeface="+mn-ea"/>
              </a:rPr>
              <a:t>Modules Used in the Project</a:t>
            </a:r>
            <a:br>
              <a:rPr lang="en-US" sz="3100" b="1" dirty="0">
                <a:latin typeface="Times New Roman" panose="02020603050405020304" pitchFamily="18" charset="0"/>
                <a:cs typeface="Times New Roman" panose="02020603050405020304" pitchFamily="18" charset="0"/>
              </a:rPr>
            </a:br>
            <a:endParaRPr lang="en-US" sz="31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7E537C6-2B94-11C9-4B52-898A85ECF306}"/>
              </a:ext>
            </a:extLst>
          </p:cNvPr>
          <p:cNvSpPr>
            <a:spLocks noGrp="1"/>
          </p:cNvSpPr>
          <p:nvPr>
            <p:ph idx="1"/>
          </p:nvPr>
        </p:nvSpPr>
        <p:spPr>
          <a:xfrm>
            <a:off x="653143" y="1101012"/>
            <a:ext cx="10515600" cy="4805266"/>
          </a:xfrm>
        </p:spPr>
        <p:txBody>
          <a:bodyPr>
            <a:noAutofit/>
          </a:bodyPr>
          <a:lstStyle/>
          <a:p>
            <a:pPr marL="0" indent="0" algn="just">
              <a:lnSpc>
                <a:spcPct val="100000"/>
              </a:lnSpc>
              <a:buNone/>
            </a:pPr>
            <a:r>
              <a:rPr lang="en-US" sz="1800" b="1" dirty="0">
                <a:solidFill>
                  <a:schemeClr val="accent2"/>
                </a:solidFill>
                <a:latin typeface="Times New Roman" panose="02020603050405020304" pitchFamily="18" charset="0"/>
                <a:cs typeface="Times New Roman" panose="02020603050405020304" pitchFamily="18" charset="0"/>
              </a:rPr>
              <a:t>1. User Module</a:t>
            </a:r>
            <a:endParaRPr lang="en-US" sz="900" dirty="0">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Allows users (students/learners) to log in and access the system.</a:t>
            </a:r>
          </a:p>
          <a:p>
            <a:pPr algn="just">
              <a:lnSpc>
                <a:spcPct val="100000"/>
              </a:lnSpc>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People can upload their resumes and other information that has to do with their careers. Users can also add career-related data to the system. The career-related data that users can upload includes resumes.</a:t>
            </a:r>
          </a:p>
          <a:p>
            <a:pPr algn="just">
              <a:lnSpc>
                <a:spcPct val="100000"/>
              </a:lnSpc>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People can make scores for the Application Tracking System. Get ideas on how to make the Application Tracking System better. The Application Tracking System scores can be generated by users. They can get suggestions, on how to optimize the Application Tracking System.</a:t>
            </a:r>
          </a:p>
          <a:p>
            <a:pPr algn="just">
              <a:lnSpc>
                <a:spcPct val="100000"/>
              </a:lnSpc>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People can do things to help them talk to others and work on their personality. They can practice talking to people and try to be a better person. Users can do communication exercises and personality exercises to help them.</a:t>
            </a:r>
          </a:p>
          <a:p>
            <a:pPr algn="just">
              <a:lnSpc>
                <a:spcPct val="100000"/>
              </a:lnSpc>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People can do practice interviews that use intelligence and they will get feedback on how they did. They will get to see how they performed in the AI-powered interviews and what they can do to improve. The feedback, from the AI-powered interviews will help them.</a:t>
            </a:r>
          </a:p>
          <a:p>
            <a:pPr algn="just">
              <a:lnSpc>
                <a:spcPct val="100000"/>
              </a:lnSpc>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The dashboard shows us the results. It also has progress charts and analytics. We can see the results on the dashboard and the progress charts are there too. The analytics are also available, on the dashboard.</a:t>
            </a:r>
            <a:endParaRPr lang="en-US" sz="900" dirty="0">
              <a:latin typeface="Times New Roman" panose="02020603050405020304" pitchFamily="18" charset="0"/>
              <a:cs typeface="Times New Roman" panose="02020603050405020304" pitchFamily="18" charset="0"/>
            </a:endParaRPr>
          </a:p>
          <a:p>
            <a:pPr marL="0" indent="0" algn="just">
              <a:lnSpc>
                <a:spcPct val="100000"/>
              </a:lnSpc>
              <a:buNone/>
            </a:pPr>
            <a:r>
              <a:rPr lang="en-US" sz="1800" b="1" dirty="0">
                <a:solidFill>
                  <a:schemeClr val="accent2"/>
                </a:solidFill>
                <a:latin typeface="Times New Roman" panose="02020603050405020304" pitchFamily="18" charset="0"/>
                <a:cs typeface="Times New Roman" panose="02020603050405020304" pitchFamily="18" charset="0"/>
              </a:rPr>
              <a:t>2. Admin Module</a:t>
            </a:r>
          </a:p>
          <a:p>
            <a:pPr algn="just">
              <a:lnSpc>
                <a:spcPct val="100000"/>
              </a:lnSpc>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The admin person can look at all the information that belongs to the users, including their resumes and the records of what they do, on the system. The admin can see all the user data, the user. The user activity logs.</a:t>
            </a:r>
          </a:p>
          <a:p>
            <a:pPr algn="just">
              <a:lnSpc>
                <a:spcPct val="100000"/>
              </a:lnSpc>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The admin person can keep an eye on how the AI system is working and they can look at what the modules are putting out. The admin person is able to monitor the AI system performance and analyze the module outputs.</a:t>
            </a:r>
          </a:p>
          <a:p>
            <a:pPr algn="just">
              <a:lnSpc>
                <a:spcPct val="100000"/>
              </a:lnSpc>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Responsible for validating content and maintaining system integrity.</a:t>
            </a:r>
          </a:p>
          <a:p>
            <a:pPr algn="just">
              <a:lnSpc>
                <a:spcPct val="100000"/>
              </a:lnSpc>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Monitors analytics, user progress, and overall system usage.</a:t>
            </a:r>
          </a:p>
          <a:p>
            <a:pPr algn="just">
              <a:lnSpc>
                <a:spcPct val="100000"/>
              </a:lnSpc>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Controls user access and role-based permissions.</a:t>
            </a:r>
          </a:p>
        </p:txBody>
      </p:sp>
    </p:spTree>
    <p:extLst>
      <p:ext uri="{BB962C8B-B14F-4D97-AF65-F5344CB8AC3E}">
        <p14:creationId xmlns:p14="http://schemas.microsoft.com/office/powerpoint/2010/main" val="2263145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9717A3-709E-44A5-670F-0144861AA5F2}"/>
              </a:ext>
            </a:extLst>
          </p:cNvPr>
          <p:cNvSpPr txBox="1"/>
          <p:nvPr/>
        </p:nvSpPr>
        <p:spPr>
          <a:xfrm>
            <a:off x="438540" y="345234"/>
            <a:ext cx="11382518" cy="6232475"/>
          </a:xfrm>
          <a:prstGeom prst="rect">
            <a:avLst/>
          </a:prstGeom>
          <a:noFill/>
        </p:spPr>
        <p:txBody>
          <a:bodyPr wrap="square" rtlCol="0">
            <a:spAutoFit/>
          </a:bodyPr>
          <a:lstStyle/>
          <a:p>
            <a:r>
              <a:rPr lang="en-US" b="1" dirty="0">
                <a:solidFill>
                  <a:schemeClr val="accent2"/>
                </a:solidFill>
                <a:latin typeface="Times New Roman" panose="02020603050405020304" pitchFamily="18" charset="0"/>
                <a:cs typeface="Times New Roman" panose="02020603050405020304" pitchFamily="18" charset="0"/>
              </a:rPr>
              <a:t>3. Resume Analyzer Module</a:t>
            </a:r>
          </a:p>
          <a:p>
            <a:endParaRPr lang="en-US" sz="900" dirty="0"/>
          </a:p>
          <a:p>
            <a:pPr marL="171450" indent="-171450">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The system looks at the resumes that people upload. It gives them scores based on what the applicant tracking system thinks. It handles all the resumes that are uploaded. Then it generates scores for each one of them which are called ATS scores. The ATS scores are like a grade, for the resumes.</a:t>
            </a:r>
          </a:p>
          <a:p>
            <a:pPr marL="171450" indent="-171450">
              <a:buFont typeface="Wingdings" panose="05000000000000000000" pitchFamily="2" charset="2"/>
              <a:buChar char="§"/>
            </a:pPr>
            <a:endParaRPr lang="en-US" sz="12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This thing looks at resumes and job descriptions. Then tells you how to make the resume better for the job. It helps you make your resume match what the job is looking for. The thing gives you ideas to make your resume more suitable, for the job description.</a:t>
            </a:r>
          </a:p>
          <a:p>
            <a:pPr marL="171450" indent="-171450">
              <a:buFont typeface="Wingdings" panose="05000000000000000000" pitchFamily="2" charset="2"/>
              <a:buChar char="§"/>
            </a:pPr>
            <a:endParaRPr lang="en-US" sz="12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Uses AI models to identify skills, gaps, and recommendations.</a:t>
            </a:r>
          </a:p>
          <a:p>
            <a:pPr marL="171450" indent="-171450">
              <a:buFont typeface="Wingdings" panose="05000000000000000000" pitchFamily="2" charset="2"/>
              <a:buChar char="§"/>
            </a:pPr>
            <a:endParaRPr lang="en-US" sz="12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Supports exporting analysis results and reports.</a:t>
            </a:r>
          </a:p>
          <a:p>
            <a:endParaRPr lang="en-US" sz="900" dirty="0"/>
          </a:p>
          <a:p>
            <a:r>
              <a:rPr lang="en-US" b="1" dirty="0">
                <a:solidFill>
                  <a:schemeClr val="accent2"/>
                </a:solidFill>
                <a:latin typeface="Times New Roman" panose="02020603050405020304" pitchFamily="18" charset="0"/>
                <a:cs typeface="Times New Roman" panose="02020603050405020304" pitchFamily="18" charset="0"/>
              </a:rPr>
              <a:t>4. Career Roadmap Module</a:t>
            </a:r>
          </a:p>
          <a:p>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Generates personalized career paths based on user interests and skills.</a:t>
            </a:r>
          </a:p>
          <a:p>
            <a:pPr marL="171450"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Recommends courses, learning resources, and progression plans.</a:t>
            </a:r>
          </a:p>
          <a:p>
            <a:pPr marL="171450"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system keeps an eye on how skills are developing and it changes the roadmap as it goes along. The roadmap gets updated dynamically to show what is happening with the skills development. This means the skills development and the roadmap are always connected and changing together.</a:t>
            </a:r>
          </a:p>
          <a:p>
            <a:endParaRPr lang="en-US" sz="900" dirty="0"/>
          </a:p>
          <a:p>
            <a:r>
              <a:rPr lang="en-US" b="1" dirty="0">
                <a:solidFill>
                  <a:schemeClr val="accent2"/>
                </a:solidFill>
                <a:latin typeface="Times New Roman" panose="02020603050405020304" pitchFamily="18" charset="0"/>
                <a:cs typeface="Times New Roman" panose="02020603050405020304" pitchFamily="18" charset="0"/>
              </a:rPr>
              <a:t>5. Communication &amp; Personality Module</a:t>
            </a:r>
          </a:p>
          <a:p>
            <a:endParaRPr lang="en-US" sz="900" dirty="0"/>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Provides AI-driven speaking practice and personality assessment.</a:t>
            </a:r>
          </a:p>
          <a:p>
            <a:pPr marL="171450"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This thing checks what people say. Gives them ideas on how to do it better. It looks at the responses. Tells people what they can do to improve the feedback from the responses. The feedback, from the responses is very important. That is why this thing evaluates the responses and provides feedback on the responses.</a:t>
            </a:r>
          </a:p>
          <a:p>
            <a:pPr marL="171450"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system keeps an eye on how the user's doing over time and it tells them what topics they need to practice more. It helps the user to see where they need to improve and what they should focus on to get better. The user can then use this information to work on the topics that the system says they need to practice. This way the user can see their progress and the system can help them to keep getting better at the topics they are learning.</a:t>
            </a:r>
          </a:p>
          <a:p>
            <a:pPr marL="171450"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endParaRPr lang="en-US" sz="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2068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EF9AF5-425C-A238-0784-2839C82DA1FD}"/>
              </a:ext>
            </a:extLst>
          </p:cNvPr>
          <p:cNvSpPr txBox="1"/>
          <p:nvPr/>
        </p:nvSpPr>
        <p:spPr>
          <a:xfrm>
            <a:off x="567158" y="312516"/>
            <a:ext cx="11447363" cy="5816977"/>
          </a:xfrm>
          <a:prstGeom prst="rect">
            <a:avLst/>
          </a:prstGeom>
          <a:noFill/>
        </p:spPr>
        <p:txBody>
          <a:bodyPr wrap="square" rtlCol="0">
            <a:spAutoFit/>
          </a:bodyPr>
          <a:lstStyle/>
          <a:p>
            <a:r>
              <a:rPr lang="en-US" b="1" dirty="0">
                <a:solidFill>
                  <a:schemeClr val="accent2"/>
                </a:solidFill>
                <a:latin typeface="Times New Roman" panose="02020603050405020304" pitchFamily="18" charset="0"/>
                <a:cs typeface="Times New Roman" panose="02020603050405020304" pitchFamily="18" charset="0"/>
              </a:rPr>
              <a:t>6. Mock Interview Module</a:t>
            </a:r>
          </a:p>
          <a:p>
            <a:pPr marL="171450" indent="-171450">
              <a:buFont typeface="Wingdings" panose="05000000000000000000" pitchFamily="2" charset="2"/>
              <a:buChar char="§"/>
            </a:pPr>
            <a:endParaRPr lang="en-US" sz="15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
            </a:pPr>
            <a:r>
              <a:rPr lang="en-US" sz="1500" dirty="0">
                <a:latin typeface="Times New Roman" panose="02020603050405020304" pitchFamily="18" charset="0"/>
                <a:cs typeface="Times New Roman" panose="02020603050405020304" pitchFamily="18" charset="0"/>
              </a:rPr>
              <a:t>Simulates real-world interviews for selected job roles or topics.</a:t>
            </a:r>
          </a:p>
          <a:p>
            <a:pPr marL="171450" indent="-171450">
              <a:buFont typeface="Wingdings" panose="05000000000000000000" pitchFamily="2" charset="2"/>
              <a:buChar char="§"/>
            </a:pPr>
            <a:endParaRPr lang="en-US" sz="15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
            </a:pPr>
            <a:r>
              <a:rPr lang="en-US" sz="1500" dirty="0">
                <a:latin typeface="Times New Roman" panose="02020603050405020304" pitchFamily="18" charset="0"/>
                <a:cs typeface="Times New Roman" panose="02020603050405020304" pitchFamily="18" charset="0"/>
              </a:rPr>
              <a:t>Records user responses and evaluates them using AI algorithms.</a:t>
            </a:r>
          </a:p>
          <a:p>
            <a:pPr marL="171450" indent="-171450">
              <a:buFont typeface="Wingdings" panose="05000000000000000000" pitchFamily="2" charset="2"/>
              <a:buChar char="§"/>
            </a:pPr>
            <a:endParaRPr lang="en-US" sz="15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
            </a:pPr>
            <a:r>
              <a:rPr lang="en-US" sz="1500" dirty="0">
                <a:latin typeface="Times New Roman" panose="02020603050405020304" pitchFamily="18" charset="0"/>
                <a:cs typeface="Times New Roman" panose="02020603050405020304" pitchFamily="18" charset="0"/>
              </a:rPr>
              <a:t>Provides performance reports and recommendations for improvement.</a:t>
            </a:r>
          </a:p>
          <a:p>
            <a:pPr marL="171450" indent="-171450">
              <a:buFont typeface="Wingdings" panose="05000000000000000000" pitchFamily="2" charset="2"/>
              <a:buChar char="§"/>
            </a:pPr>
            <a:endParaRPr lang="en-US" sz="1500" dirty="0">
              <a:latin typeface="Times New Roman" panose="02020603050405020304" pitchFamily="18" charset="0"/>
              <a:cs typeface="Times New Roman" panose="02020603050405020304" pitchFamily="18" charset="0"/>
            </a:endParaRPr>
          </a:p>
          <a:p>
            <a:r>
              <a:rPr lang="en-US" b="1" dirty="0">
                <a:solidFill>
                  <a:schemeClr val="accent2"/>
                </a:solidFill>
                <a:latin typeface="Times New Roman" panose="02020603050405020304" pitchFamily="18" charset="0"/>
                <a:cs typeface="Times New Roman" panose="02020603050405020304" pitchFamily="18" charset="0"/>
              </a:rPr>
              <a:t>7. Skill Tracker Module</a:t>
            </a:r>
          </a:p>
          <a:p>
            <a:pPr marL="171450" indent="-171450">
              <a:buFont typeface="Wingdings" panose="05000000000000000000" pitchFamily="2" charset="2"/>
              <a:buChar char="§"/>
            </a:pPr>
            <a:endParaRPr lang="en-US" sz="15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
            </a:pPr>
            <a:r>
              <a:rPr lang="en-US" sz="1500" dirty="0">
                <a:latin typeface="Times New Roman" panose="02020603050405020304" pitchFamily="18" charset="0"/>
                <a:cs typeface="Times New Roman" panose="02020603050405020304" pitchFamily="18" charset="0"/>
              </a:rPr>
              <a:t>Tracks user activity and progress across all modules.</a:t>
            </a:r>
          </a:p>
          <a:p>
            <a:pPr marL="171450" indent="-171450">
              <a:buFont typeface="Wingdings" panose="05000000000000000000" pitchFamily="2" charset="2"/>
              <a:buChar char="§"/>
            </a:pPr>
            <a:endParaRPr lang="en-US" sz="15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
            </a:pPr>
            <a:r>
              <a:rPr lang="en-US" sz="1500" dirty="0">
                <a:latin typeface="Times New Roman" panose="02020603050405020304" pitchFamily="18" charset="0"/>
                <a:cs typeface="Times New Roman" panose="02020603050405020304" pitchFamily="18" charset="0"/>
              </a:rPr>
              <a:t>Displays analytics, achievements, and milestones.</a:t>
            </a:r>
          </a:p>
          <a:p>
            <a:pPr marL="171450" indent="-171450">
              <a:buFont typeface="Wingdings" panose="05000000000000000000" pitchFamily="2" charset="2"/>
              <a:buChar char="§"/>
            </a:pPr>
            <a:endParaRPr lang="en-US" sz="15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
            </a:pPr>
            <a:r>
              <a:rPr lang="en-US" sz="1500" dirty="0">
                <a:latin typeface="Times New Roman" panose="02020603050405020304" pitchFamily="18" charset="0"/>
                <a:cs typeface="Times New Roman" panose="02020603050405020304" pitchFamily="18" charset="0"/>
              </a:rPr>
              <a:t>Sends notifications and recommendations for improvement.</a:t>
            </a:r>
          </a:p>
          <a:p>
            <a:pPr marL="171450" indent="-171450">
              <a:buFont typeface="Wingdings" panose="05000000000000000000" pitchFamily="2" charset="2"/>
              <a:buChar char="§"/>
            </a:pPr>
            <a:endParaRPr lang="en-US" sz="1500" dirty="0">
              <a:latin typeface="Times New Roman" panose="02020603050405020304" pitchFamily="18" charset="0"/>
              <a:cs typeface="Times New Roman" panose="02020603050405020304" pitchFamily="18" charset="0"/>
            </a:endParaRPr>
          </a:p>
          <a:p>
            <a:r>
              <a:rPr lang="en-US" b="1" dirty="0">
                <a:solidFill>
                  <a:schemeClr val="accent2"/>
                </a:solidFill>
                <a:latin typeface="Times New Roman" panose="02020603050405020304" pitchFamily="18" charset="0"/>
                <a:cs typeface="Times New Roman" panose="02020603050405020304" pitchFamily="18" charset="0"/>
              </a:rPr>
              <a:t>8. Dashboard Module</a:t>
            </a:r>
          </a:p>
          <a:p>
            <a:pPr marL="171450" indent="-171450">
              <a:buFont typeface="Wingdings" panose="05000000000000000000" pitchFamily="2" charset="2"/>
              <a:buChar char="§"/>
            </a:pPr>
            <a:endParaRPr lang="en-US" sz="15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
            </a:pPr>
            <a:r>
              <a:rPr lang="en-US" sz="1500" dirty="0">
                <a:latin typeface="Times New Roman" panose="02020603050405020304" pitchFamily="18" charset="0"/>
                <a:cs typeface="Times New Roman" panose="02020603050405020304" pitchFamily="18" charset="0"/>
              </a:rPr>
              <a:t>Centralized interface displaying all module results, notifications, and insights.</a:t>
            </a:r>
          </a:p>
          <a:p>
            <a:pPr marL="171450" indent="-171450">
              <a:buFont typeface="Wingdings" panose="05000000000000000000" pitchFamily="2" charset="2"/>
              <a:buChar char="§"/>
            </a:pPr>
            <a:endParaRPr lang="en-US" sz="15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
            </a:pPr>
            <a:r>
              <a:rPr lang="en-US" sz="1500" dirty="0">
                <a:latin typeface="Times New Roman" panose="02020603050405020304" pitchFamily="18" charset="0"/>
                <a:cs typeface="Times New Roman" panose="02020603050405020304" pitchFamily="18" charset="0"/>
              </a:rPr>
              <a:t>Visualizes data using charts and progress indicators.</a:t>
            </a:r>
          </a:p>
          <a:p>
            <a:pPr marL="171450" indent="-171450">
              <a:buFont typeface="Wingdings" panose="05000000000000000000" pitchFamily="2" charset="2"/>
              <a:buChar char="§"/>
            </a:pPr>
            <a:endParaRPr lang="en-US" sz="15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
            </a:pPr>
            <a:r>
              <a:rPr lang="en-US" sz="1500" dirty="0">
                <a:latin typeface="Times New Roman" panose="02020603050405020304" pitchFamily="18" charset="0"/>
                <a:cs typeface="Times New Roman" panose="02020603050405020304" pitchFamily="18" charset="0"/>
              </a:rPr>
              <a:t>Integrates all module outputs for easy access and monitoring.</a:t>
            </a:r>
          </a:p>
          <a:p>
            <a:endParaRPr lang="en-US" dirty="0"/>
          </a:p>
        </p:txBody>
      </p:sp>
    </p:spTree>
    <p:extLst>
      <p:ext uri="{BB962C8B-B14F-4D97-AF65-F5344CB8AC3E}">
        <p14:creationId xmlns:p14="http://schemas.microsoft.com/office/powerpoint/2010/main" val="2448686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993D5-1E6A-9C6E-37F8-B7BA6808B80C}"/>
              </a:ext>
            </a:extLst>
          </p:cNvPr>
          <p:cNvSpPr>
            <a:spLocks noGrp="1"/>
          </p:cNvSpPr>
          <p:nvPr>
            <p:ph type="title"/>
          </p:nvPr>
        </p:nvSpPr>
        <p:spPr/>
        <p:txBody>
          <a:bodyPr>
            <a:normAutofit/>
          </a:bodyPr>
          <a:lstStyle/>
          <a:p>
            <a:pPr algn="ctr"/>
            <a:r>
              <a:rPr lang="en-US" sz="3000" dirty="0">
                <a:latin typeface="Times New Roman" panose="02020603050405020304" pitchFamily="18" charset="0"/>
                <a:cs typeface="Times New Roman" panose="02020603050405020304" pitchFamily="18" charset="0"/>
              </a:rPr>
              <a:t>FRONTEND DESIGN</a:t>
            </a:r>
          </a:p>
        </p:txBody>
      </p:sp>
      <p:pic>
        <p:nvPicPr>
          <p:cNvPr id="7" name="Content Placeholder 6">
            <a:extLst>
              <a:ext uri="{FF2B5EF4-FFF2-40B4-BE49-F238E27FC236}">
                <a16:creationId xmlns:a16="http://schemas.microsoft.com/office/drawing/2014/main" id="{3B636881-B625-F036-0F78-510183DFC484}"/>
              </a:ext>
            </a:extLst>
          </p:cNvPr>
          <p:cNvPicPr>
            <a:picLocks noGrp="1" noChangeAspect="1"/>
          </p:cNvPicPr>
          <p:nvPr>
            <p:ph idx="1"/>
          </p:nvPr>
        </p:nvPicPr>
        <p:blipFill>
          <a:blip r:embed="rId2"/>
          <a:stretch>
            <a:fillRect/>
          </a:stretch>
        </p:blipFill>
        <p:spPr>
          <a:xfrm>
            <a:off x="1215343" y="1405551"/>
            <a:ext cx="10138458" cy="4771412"/>
          </a:xfrm>
          <a:prstGeom prst="rect">
            <a:avLst/>
          </a:prstGeom>
        </p:spPr>
      </p:pic>
    </p:spTree>
    <p:extLst>
      <p:ext uri="{BB962C8B-B14F-4D97-AF65-F5344CB8AC3E}">
        <p14:creationId xmlns:p14="http://schemas.microsoft.com/office/powerpoint/2010/main" val="880261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C9759-FBBE-BEEA-D802-19D431EE3830}"/>
              </a:ext>
            </a:extLst>
          </p:cNvPr>
          <p:cNvSpPr>
            <a:spLocks noGrp="1"/>
          </p:cNvSpPr>
          <p:nvPr>
            <p:ph type="title"/>
          </p:nvPr>
        </p:nvSpPr>
        <p:spPr/>
        <p:txBody>
          <a:bodyPr>
            <a:normAutofit/>
          </a:bodyPr>
          <a:lstStyle/>
          <a:p>
            <a:pPr algn="ctr"/>
            <a:r>
              <a:rPr lang="en-US" sz="3000" b="1" dirty="0">
                <a:latin typeface="Times New Roman" panose="02020603050405020304" pitchFamily="18" charset="0"/>
                <a:cs typeface="Times New Roman" panose="02020603050405020304" pitchFamily="18" charset="0"/>
              </a:rPr>
              <a:t>Login and Signup Page</a:t>
            </a:r>
          </a:p>
        </p:txBody>
      </p:sp>
      <p:pic>
        <p:nvPicPr>
          <p:cNvPr id="7" name="Content Placeholder 6">
            <a:extLst>
              <a:ext uri="{FF2B5EF4-FFF2-40B4-BE49-F238E27FC236}">
                <a16:creationId xmlns:a16="http://schemas.microsoft.com/office/drawing/2014/main" id="{7838B3CF-13FA-9089-A6BB-C0B4387902D2}"/>
              </a:ext>
            </a:extLst>
          </p:cNvPr>
          <p:cNvPicPr>
            <a:picLocks noGrp="1" noChangeAspect="1"/>
          </p:cNvPicPr>
          <p:nvPr>
            <p:ph sz="half" idx="1"/>
          </p:nvPr>
        </p:nvPicPr>
        <p:blipFill>
          <a:blip r:embed="rId2"/>
          <a:stretch>
            <a:fillRect/>
          </a:stretch>
        </p:blipFill>
        <p:spPr>
          <a:xfrm>
            <a:off x="838200" y="1878529"/>
            <a:ext cx="5181600" cy="4245530"/>
          </a:xfrm>
          <a:prstGeom prst="rect">
            <a:avLst/>
          </a:prstGeom>
        </p:spPr>
      </p:pic>
      <p:pic>
        <p:nvPicPr>
          <p:cNvPr id="9" name="Content Placeholder 8">
            <a:extLst>
              <a:ext uri="{FF2B5EF4-FFF2-40B4-BE49-F238E27FC236}">
                <a16:creationId xmlns:a16="http://schemas.microsoft.com/office/drawing/2014/main" id="{5593A1B1-5198-E676-5447-E148296B2604}"/>
              </a:ext>
            </a:extLst>
          </p:cNvPr>
          <p:cNvPicPr>
            <a:picLocks noGrp="1" noChangeAspect="1"/>
          </p:cNvPicPr>
          <p:nvPr>
            <p:ph sz="half" idx="2"/>
          </p:nvPr>
        </p:nvPicPr>
        <p:blipFill>
          <a:blip r:embed="rId3"/>
          <a:stretch>
            <a:fillRect/>
          </a:stretch>
        </p:blipFill>
        <p:spPr>
          <a:xfrm>
            <a:off x="6096000" y="1865398"/>
            <a:ext cx="5663772" cy="4258661"/>
          </a:xfrm>
          <a:prstGeom prst="rect">
            <a:avLst/>
          </a:prstGeom>
        </p:spPr>
      </p:pic>
    </p:spTree>
    <p:extLst>
      <p:ext uri="{BB962C8B-B14F-4D97-AF65-F5344CB8AC3E}">
        <p14:creationId xmlns:p14="http://schemas.microsoft.com/office/powerpoint/2010/main" val="187601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8C9D6BE-D843-24B4-C3DB-FF832E00FA5A}"/>
              </a:ext>
            </a:extLst>
          </p:cNvPr>
          <p:cNvSpPr txBox="1"/>
          <p:nvPr/>
        </p:nvSpPr>
        <p:spPr>
          <a:xfrm>
            <a:off x="520861" y="491103"/>
            <a:ext cx="10625559" cy="4431983"/>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FRONTEND COMPLETED FUNCTIONALITY – SkillNect</a:t>
            </a:r>
          </a:p>
          <a:p>
            <a:pPr algn="ctr"/>
            <a:endParaRPr lang="en-US" sz="2200" b="1" dirty="0">
              <a:latin typeface="Times New Roman" panose="02020603050405020304" pitchFamily="18" charset="0"/>
              <a:cs typeface="Times New Roman" panose="02020603050405020304" pitchFamily="18" charset="0"/>
            </a:endParaRPr>
          </a:p>
          <a:p>
            <a:pPr algn="ctr"/>
            <a:endParaRPr lang="en-US" sz="2200"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We made the user interface using ReactJS.</a:t>
            </a:r>
          </a:p>
          <a:p>
            <a:r>
              <a:rPr lang="en-US" dirty="0">
                <a:latin typeface="Times New Roman" panose="02020603050405020304" pitchFamily="18" charset="0"/>
                <a:cs typeface="Times New Roman" panose="02020603050405020304" pitchFamily="18" charset="0"/>
              </a:rPr>
              <a:t>• The user and admin login screens are done.</a:t>
            </a:r>
          </a:p>
          <a:p>
            <a:r>
              <a:rPr lang="en-US" dirty="0">
                <a:latin typeface="Times New Roman" panose="02020603050405020304" pitchFamily="18" charset="0"/>
                <a:cs typeface="Times New Roman" panose="02020603050405020304" pitchFamily="18" charset="0"/>
              </a:rPr>
              <a:t>• We have navigation for the user and admin so they see different things when they log in.</a:t>
            </a:r>
          </a:p>
          <a:p>
            <a:r>
              <a:rPr lang="en-US" dirty="0">
                <a:latin typeface="Times New Roman" panose="02020603050405020304" pitchFamily="18" charset="0"/>
                <a:cs typeface="Times New Roman" panose="02020603050405020304" pitchFamily="18" charset="0"/>
              </a:rPr>
              <a:t>• The user can see their profile. Change their settings.</a:t>
            </a:r>
          </a:p>
          <a:p>
            <a:r>
              <a:rPr lang="en-US" dirty="0">
                <a:latin typeface="Times New Roman" panose="02020603050405020304" pitchFamily="18" charset="0"/>
                <a:cs typeface="Times New Roman" panose="02020603050405020304" pitchFamily="18" charset="0"/>
              </a:rPr>
              <a:t>• There is a page where the user can upload their resume and we check to make sure it is the kind of file.</a:t>
            </a:r>
          </a:p>
          <a:p>
            <a:r>
              <a:rPr lang="en-US" dirty="0">
                <a:latin typeface="Times New Roman" panose="02020603050405020304" pitchFamily="18" charset="0"/>
                <a:cs typeface="Times New Roman" panose="02020603050405020304" pitchFamily="18" charset="0"/>
              </a:rPr>
              <a:t>• The user can see a list of all the resumes they have uploaded.</a:t>
            </a:r>
          </a:p>
          <a:p>
            <a:r>
              <a:rPr lang="en-US" dirty="0">
                <a:latin typeface="Times New Roman" panose="02020603050405020304" pitchFamily="18" charset="0"/>
                <a:cs typeface="Times New Roman" panose="02020603050405020304" pitchFamily="18" charset="0"/>
              </a:rPr>
              <a:t>• We show the user their ATS score. </a:t>
            </a:r>
          </a:p>
          <a:p>
            <a:r>
              <a:rPr lang="en-US" dirty="0">
                <a:latin typeface="Times New Roman" panose="02020603050405020304" pitchFamily="18" charset="0"/>
                <a:cs typeface="Times New Roman" panose="02020603050405020304" pitchFamily="18" charset="0"/>
              </a:rPr>
              <a:t>• We have parts of the website that show the user what skills they are missing and what they should learn.</a:t>
            </a:r>
          </a:p>
          <a:p>
            <a:r>
              <a:rPr lang="en-US" dirty="0">
                <a:latin typeface="Times New Roman" panose="02020603050405020304" pitchFamily="18" charset="0"/>
                <a:cs typeface="Times New Roman" panose="02020603050405020304" pitchFamily="18" charset="0"/>
              </a:rPr>
              <a:t>• The user can see a plan for their career, which's, like a map.</a:t>
            </a:r>
          </a:p>
          <a:p>
            <a:r>
              <a:rPr lang="en-US" dirty="0">
                <a:latin typeface="Times New Roman" panose="02020603050405020304" pitchFamily="18" charset="0"/>
                <a:cs typeface="Times New Roman" panose="02020603050405020304" pitchFamily="18" charset="0"/>
              </a:rPr>
              <a:t>• We have charts and graphs that the user can interact with. Admin dashboard UI to view users and resume entries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Responsive design for desktop and mobile screens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Frontend routing and component structure completed</a:t>
            </a:r>
          </a:p>
        </p:txBody>
      </p:sp>
    </p:spTree>
    <p:extLst>
      <p:ext uri="{BB962C8B-B14F-4D97-AF65-F5344CB8AC3E}">
        <p14:creationId xmlns:p14="http://schemas.microsoft.com/office/powerpoint/2010/main" val="3991830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C48C40D-EF1A-369D-D8B3-70DCDF940E4E}"/>
              </a:ext>
            </a:extLst>
          </p:cNvPr>
          <p:cNvSpPr txBox="1"/>
          <p:nvPr/>
        </p:nvSpPr>
        <p:spPr>
          <a:xfrm>
            <a:off x="1099596" y="972273"/>
            <a:ext cx="9676435" cy="4920834"/>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FUTURE WORK – SKILLNECT</a:t>
            </a:r>
          </a:p>
          <a:p>
            <a:pPr>
              <a:lnSpc>
                <a:spcPct val="150000"/>
              </a:lnSpc>
            </a:pP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Implement AI-based resume parsing and skill extraction using NLP techniques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Develop a real ATS scoring engine to evaluate resumes against job descriptions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Add personalized career roadmap generation based on user skills and goals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Enable real-time skill gap analysis and job role recommendations</a:t>
            </a:r>
          </a:p>
          <a:p>
            <a:pPr>
              <a:lnSpc>
                <a:spcPct val="150000"/>
              </a:lnSpc>
            </a:pPr>
            <a:r>
              <a:rPr lang="en-US" dirty="0">
                <a:latin typeface="Times New Roman" panose="02020603050405020304" pitchFamily="18" charset="0"/>
                <a:cs typeface="Times New Roman" panose="02020603050405020304" pitchFamily="18" charset="0"/>
              </a:rPr>
              <a:t>  Integrate backend services to enable real user authentication and data persistence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Implement secure resume storage with encryption and access control</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Introduce an admin analytics dashboard to track user progress and platform usage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Deploy the application on cloud infrastructure for scalability and availability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Integrate third-party job portals and learning platforms for recommendations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Enhance the system with continuous AI model improvement using user feedback </a:t>
            </a:r>
          </a:p>
        </p:txBody>
      </p:sp>
    </p:spTree>
    <p:extLst>
      <p:ext uri="{BB962C8B-B14F-4D97-AF65-F5344CB8AC3E}">
        <p14:creationId xmlns:p14="http://schemas.microsoft.com/office/powerpoint/2010/main" val="2167146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16689" y="567158"/>
            <a:ext cx="10992992" cy="5824763"/>
          </a:xfrm>
        </p:spPr>
        <p:txBody>
          <a:bodyPr>
            <a:normAutofit fontScale="70000" lnSpcReduction="20000"/>
          </a:bodyPr>
          <a:lstStyle/>
          <a:p>
            <a:pPr algn="l"/>
            <a:r>
              <a:rPr lang="en-IN" sz="3430" b="1" dirty="0">
                <a:latin typeface="Times New Roman" panose="02020603050405020304" pitchFamily="18" charset="0"/>
                <a:ea typeface="Cambria" panose="02040503050406030204" pitchFamily="18" charset="0"/>
                <a:cs typeface="Times New Roman" panose="02020603050405020304" pitchFamily="18" charset="0"/>
              </a:rPr>
              <a:t>12. REFERENCES </a:t>
            </a:r>
            <a:r>
              <a:rPr lang="en-IN" sz="3430" b="1" dirty="0">
                <a:latin typeface="Times New Roman" panose="02020603050405020304" pitchFamily="18" charset="0"/>
                <a:cs typeface="Times New Roman" panose="02020603050405020304" pitchFamily="18" charset="0"/>
              </a:rPr>
              <a:t>:</a:t>
            </a:r>
          </a:p>
          <a:p>
            <a:pPr algn="l"/>
            <a:endParaRPr lang="en-IN" dirty="0">
              <a:latin typeface="Times New Roman" panose="02020603050405020304" pitchFamily="18" charset="0"/>
              <a:cs typeface="Times New Roman" panose="02020603050405020304" pitchFamily="18" charset="0"/>
            </a:endParaRPr>
          </a:p>
          <a:p>
            <a:pPr marL="457200" indent="-457200" algn="l">
              <a:lnSpc>
                <a:spcPct val="120000"/>
              </a:lnSpc>
              <a:buFont typeface="+mj-lt"/>
              <a:buAutoNum type="arabicPeriod"/>
            </a:pPr>
            <a:r>
              <a:rPr lang="en-US" sz="2200" dirty="0">
                <a:latin typeface="Times New Roman" panose="02020603050405020304" pitchFamily="18" charset="0"/>
                <a:cs typeface="Times New Roman" panose="02020603050405020304" pitchFamily="18" charset="0"/>
              </a:rPr>
              <a:t>S. R. Jagtap, V. Kulkarni, Y. Pachorkar, O. Taur, S. Gupta, and U. Pujeri, “</a:t>
            </a:r>
            <a:r>
              <a:rPr lang="en-US" sz="2200" b="1" dirty="0">
                <a:solidFill>
                  <a:schemeClr val="tx1">
                    <a:lumMod val="95000"/>
                    <a:lumOff val="5000"/>
                  </a:schemeClr>
                </a:solidFill>
                <a:latin typeface="Times New Roman" panose="02020603050405020304" pitchFamily="18" charset="0"/>
                <a:cs typeface="Times New Roman" panose="02020603050405020304" pitchFamily="18" charset="0"/>
              </a:rPr>
              <a:t>AI-Driven Real-Time Interview Simulation App with Voice Recognition and Facial Analysis,</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Indian Journal of Science and Technology</a:t>
            </a:r>
            <a:r>
              <a:rPr lang="en-US" sz="2200" dirty="0">
                <a:latin typeface="Times New Roman" panose="02020603050405020304" pitchFamily="18" charset="0"/>
                <a:cs typeface="Times New Roman" panose="02020603050405020304" pitchFamily="18" charset="0"/>
              </a:rPr>
              <a:t>, vol. 18, no. 25, pp. 2058–2066, Jul. 2025.</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hlinkClick r:id="rId2"/>
              </a:rPr>
              <a:t>https://doi.org/10.17485/IJST/v18i25.760</a:t>
            </a:r>
            <a:r>
              <a:rPr lang="en-US" sz="2200" dirty="0">
                <a:latin typeface="Times New Roman" panose="02020603050405020304" pitchFamily="18" charset="0"/>
                <a:cs typeface="Times New Roman" panose="02020603050405020304" pitchFamily="18" charset="0"/>
              </a:rPr>
              <a:t>    </a:t>
            </a:r>
          </a:p>
          <a:p>
            <a:pPr marL="457200" indent="-457200" algn="l">
              <a:lnSpc>
                <a:spcPct val="120000"/>
              </a:lnSpc>
              <a:buFont typeface="+mj-lt"/>
              <a:buAutoNum type="arabicPeriod"/>
            </a:pPr>
            <a:endParaRPr lang="en-US" sz="2200" dirty="0">
              <a:latin typeface="Times New Roman" panose="02020603050405020304" pitchFamily="18" charset="0"/>
              <a:cs typeface="Times New Roman" panose="02020603050405020304" pitchFamily="18" charset="0"/>
            </a:endParaRPr>
          </a:p>
          <a:p>
            <a:pPr marL="457200" indent="-457200" algn="l">
              <a:lnSpc>
                <a:spcPct val="120000"/>
              </a:lnSpc>
              <a:buFont typeface="+mj-lt"/>
              <a:buAutoNum type="arabicPeriod"/>
            </a:pPr>
            <a:r>
              <a:rPr lang="en-US" sz="2200" dirty="0">
                <a:latin typeface="Times New Roman" panose="02020603050405020304" pitchFamily="18" charset="0"/>
                <a:cs typeface="Times New Roman" panose="02020603050405020304" pitchFamily="18" charset="0"/>
              </a:rPr>
              <a:t>P. P. Wadekar, Y. P. Pillai, M. U. Roy, and N. Phadnis, “</a:t>
            </a:r>
            <a:r>
              <a:rPr lang="en-US" sz="2200" b="1" dirty="0">
                <a:solidFill>
                  <a:schemeClr val="tx1">
                    <a:lumMod val="95000"/>
                    <a:lumOff val="5000"/>
                  </a:schemeClr>
                </a:solidFill>
                <a:latin typeface="Times New Roman" panose="02020603050405020304" pitchFamily="18" charset="0"/>
                <a:cs typeface="Times New Roman" panose="02020603050405020304" pitchFamily="18" charset="0"/>
              </a:rPr>
              <a:t>Placement Predictor and Course Recommender System,” </a:t>
            </a:r>
            <a:r>
              <a:rPr lang="en-US" sz="2200" i="1" dirty="0">
                <a:latin typeface="Times New Roman" panose="02020603050405020304" pitchFamily="18" charset="0"/>
                <a:cs typeface="Times New Roman" panose="02020603050405020304" pitchFamily="18" charset="0"/>
              </a:rPr>
              <a:t>International Research Journal of Engineering and Technology (IRJET)</a:t>
            </a:r>
            <a:r>
              <a:rPr lang="en-US" sz="2200" dirty="0">
                <a:latin typeface="Times New Roman" panose="02020603050405020304" pitchFamily="18" charset="0"/>
                <a:cs typeface="Times New Roman" panose="02020603050405020304" pitchFamily="18" charset="0"/>
              </a:rPr>
              <a:t>, vol. 5, no. 3, pp. 3960, Mar. 2018.</a:t>
            </a:r>
          </a:p>
          <a:p>
            <a:pPr marL="457200" indent="-457200" algn="l">
              <a:lnSpc>
                <a:spcPct val="120000"/>
              </a:lnSpc>
              <a:buFont typeface="+mj-lt"/>
              <a:buAutoNum type="arabicPeriod"/>
            </a:pPr>
            <a:endParaRPr lang="en-US" sz="2200" dirty="0">
              <a:latin typeface="Times New Roman" panose="02020603050405020304" pitchFamily="18" charset="0"/>
              <a:cs typeface="Times New Roman" panose="02020603050405020304" pitchFamily="18" charset="0"/>
            </a:endParaRPr>
          </a:p>
          <a:p>
            <a:pPr marL="457200" indent="-457200" algn="l">
              <a:lnSpc>
                <a:spcPct val="120000"/>
              </a:lnSpc>
              <a:buFont typeface="+mj-lt"/>
              <a:buAutoNum type="arabicPeriod"/>
            </a:pPr>
            <a:r>
              <a:rPr lang="en-US" sz="2200" dirty="0">
                <a:latin typeface="Times New Roman" panose="02020603050405020304" pitchFamily="18" charset="0"/>
                <a:cs typeface="Times New Roman" panose="02020603050405020304" pitchFamily="18" charset="0"/>
              </a:rPr>
              <a:t>W. Wu, L. Chen, Q. Yang, and Y. Li, </a:t>
            </a:r>
            <a:r>
              <a:rPr lang="en-US" sz="2200" b="1" dirty="0">
                <a:solidFill>
                  <a:schemeClr val="tx1">
                    <a:lumMod val="95000"/>
                    <a:lumOff val="5000"/>
                  </a:schemeClr>
                </a:solidFill>
                <a:latin typeface="Times New Roman" panose="02020603050405020304" pitchFamily="18" charset="0"/>
                <a:cs typeface="Times New Roman" panose="02020603050405020304" pitchFamily="18" charset="0"/>
              </a:rPr>
              <a:t>“Inferring Students’ Personality from Their Communication Behavior in Web-based Learning Systems,” </a:t>
            </a:r>
            <a:r>
              <a:rPr lang="en-US" sz="2200" i="1" dirty="0">
                <a:latin typeface="Times New Roman" panose="02020603050405020304" pitchFamily="18" charset="0"/>
                <a:cs typeface="Times New Roman" panose="02020603050405020304" pitchFamily="18" charset="0"/>
              </a:rPr>
              <a:t>International Journal of Artificial Intelligence in Education</a:t>
            </a:r>
            <a:r>
              <a:rPr lang="en-US" sz="2200" dirty="0">
                <a:latin typeface="Times New Roman" panose="02020603050405020304" pitchFamily="18" charset="0"/>
                <a:cs typeface="Times New Roman" panose="02020603050405020304" pitchFamily="18" charset="0"/>
              </a:rPr>
              <a:t>, vol. 29, pp. 189–216, Jan. 2019.</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hlinkClick r:id="rId3"/>
              </a:rPr>
              <a:t>https://doi.org/10.1007/s40593-018-00173-9</a:t>
            </a:r>
            <a:endParaRPr lang="en-US" sz="2200" dirty="0">
              <a:latin typeface="Times New Roman" panose="02020603050405020304" pitchFamily="18" charset="0"/>
              <a:cs typeface="Times New Roman" panose="02020603050405020304" pitchFamily="18" charset="0"/>
            </a:endParaRPr>
          </a:p>
          <a:p>
            <a:pPr marL="457200" indent="-457200" algn="l">
              <a:lnSpc>
                <a:spcPct val="120000"/>
              </a:lnSpc>
              <a:buFont typeface="+mj-lt"/>
              <a:buAutoNum type="arabicPeriod"/>
            </a:pPr>
            <a:endParaRPr lang="en-US" sz="2200" dirty="0">
              <a:latin typeface="Times New Roman" panose="02020603050405020304" pitchFamily="18" charset="0"/>
              <a:cs typeface="Times New Roman" panose="02020603050405020304" pitchFamily="18" charset="0"/>
            </a:endParaRPr>
          </a:p>
          <a:p>
            <a:pPr marL="457200" indent="-457200" algn="l">
              <a:lnSpc>
                <a:spcPct val="120000"/>
              </a:lnSpc>
              <a:buFont typeface="+mj-lt"/>
              <a:buAutoNum type="arabicPeriod"/>
            </a:pPr>
            <a:r>
              <a:rPr lang="en-US" sz="2200" dirty="0">
                <a:latin typeface="Times New Roman" panose="02020603050405020304" pitchFamily="18" charset="0"/>
                <a:cs typeface="Times New Roman" panose="02020603050405020304" pitchFamily="18" charset="0"/>
              </a:rPr>
              <a:t>S. S. Shravan Kumar, K. B. Bhimsingh, T. K. Kaushlendra, A. P. Chitnis, V. H. Salvi, A. S. Patil, M. Parate, and S. Sharma, “</a:t>
            </a:r>
            <a:r>
              <a:rPr lang="en-US" sz="2200" b="1" dirty="0">
                <a:solidFill>
                  <a:schemeClr val="tx1">
                    <a:lumMod val="95000"/>
                    <a:lumOff val="5000"/>
                  </a:schemeClr>
                </a:solidFill>
                <a:latin typeface="Times New Roman" panose="02020603050405020304" pitchFamily="18" charset="0"/>
                <a:cs typeface="Times New Roman" panose="02020603050405020304" pitchFamily="18" charset="0"/>
              </a:rPr>
              <a:t>Revolutionizing Resume Building with Intelligent ATS Optimization to Boost Career Development and Employability</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International Journal on Advanced Computer Theory and Engineering</a:t>
            </a:r>
            <a:r>
              <a:rPr lang="en-US" sz="2200" dirty="0">
                <a:latin typeface="Times New Roman" panose="02020603050405020304" pitchFamily="18" charset="0"/>
                <a:cs typeface="Times New Roman" panose="02020603050405020304" pitchFamily="18" charset="0"/>
              </a:rPr>
              <a:t>, vol. 14, no. 1, 2025.</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hlinkClick r:id="rId4"/>
              </a:rPr>
              <a:t>https://journals.mriindia.com</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1BDAE34-4BF0-A3C6-9884-338C226B7763}"/>
              </a:ext>
            </a:extLst>
          </p:cNvPr>
          <p:cNvSpPr/>
          <p:nvPr/>
        </p:nvSpPr>
        <p:spPr>
          <a:xfrm>
            <a:off x="2882096" y="2967335"/>
            <a:ext cx="6412375" cy="1631216"/>
          </a:xfrm>
          <a:prstGeom prst="rect">
            <a:avLst/>
          </a:prstGeom>
          <a:noFill/>
        </p:spPr>
        <p:txBody>
          <a:bodyPr wrap="square" lIns="91440" tIns="45720" rIns="91440" bIns="45720">
            <a:spAutoFit/>
          </a:bodyPr>
          <a:lstStyle/>
          <a:p>
            <a:pPr algn="ctr"/>
            <a:r>
              <a:rPr lang="en-US" sz="100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Thankyou</a:t>
            </a:r>
            <a:endParaRPr lang="en-US" sz="10000"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0803671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TotalTime>
  <Words>1908</Words>
  <Application>Microsoft Office PowerPoint</Application>
  <PresentationFormat>Widescreen</PresentationFormat>
  <Paragraphs>130</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Comic Sans MS</vt:lpstr>
      <vt:lpstr>Times New Roman</vt:lpstr>
      <vt:lpstr>Wingdings</vt:lpstr>
      <vt:lpstr>Office Theme</vt:lpstr>
      <vt:lpstr>PowerPoint Presentation</vt:lpstr>
      <vt:lpstr>PowerPoint Presentation</vt:lpstr>
      <vt:lpstr>PowerPoint Presentation</vt:lpstr>
      <vt:lpstr>PowerPoint Presentation</vt:lpstr>
      <vt:lpstr>Modules Used in the Project </vt:lpstr>
      <vt:lpstr>PowerPoint Presentation</vt:lpstr>
      <vt:lpstr>PowerPoint Presentation</vt:lpstr>
      <vt:lpstr>FRONTEND DESIGN</vt:lpstr>
      <vt:lpstr>Login and Signup Page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MOOLCHAND SHARMA</dc:creator>
  <cp:lastModifiedBy>22MH1A05B5 ...</cp:lastModifiedBy>
  <cp:revision>67</cp:revision>
  <dcterms:created xsi:type="dcterms:W3CDTF">2021-02-05T14:09:00Z</dcterms:created>
  <dcterms:modified xsi:type="dcterms:W3CDTF">2026-02-04T16:01:19Z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075486BC01E3466EBF4C5DB8B65F2795_13</vt:lpwstr>
  </property>
  <property fmtid="{D5CDD505-2E9C-101B-9397-08002B2CF9AE}" pid="3" name="KSOProductBuildVer">
    <vt:lpwstr>2057-12.2.0.23149</vt:lpwstr>
  </property>
</Properties>
</file>